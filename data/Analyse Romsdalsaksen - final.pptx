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EAED"/>
    <a:srgbClr val="63C5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9C6A6F-9200-D643-BE30-A59AA0B55D86}" v="25" dt="2026-03-12T09:52:25.9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704"/>
  </p:normalViewPr>
  <p:slideViewPr>
    <p:cSldViewPr snapToGrid="0">
      <p:cViewPr>
        <p:scale>
          <a:sx n="120" d="100"/>
          <a:sy n="120" d="100"/>
        </p:scale>
        <p:origin x="800" y="10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1E9FA8-72AE-D543-8A7E-68B83DE87385}" type="datetimeFigureOut">
              <a:rPr lang="nb-NO" smtClean="0"/>
              <a:t>10.03.2026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9E6744-C98E-614E-9D74-1E3C292BD88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74829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rgbClr val="63C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3403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rgbClr val="63C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120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rgbClr val="63C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558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rgbClr val="63C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854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rgbClr val="63C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285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427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301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255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b-NO"/>
              <a:t>Klikk på ikonet for å legge til et bilde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473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90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176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059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714F072-9011-4136-0B81-D469D0C06F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dirty="0"/>
              <a:t>Romsdalsaksen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93CCF05F-4DE2-B9B5-B1B5-0A4D5EAD37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b-NO"/>
          </a:p>
        </p:txBody>
      </p:sp>
      <p:pic>
        <p:nvPicPr>
          <p:cNvPr id="4" name="Bilde 3">
            <a:extLst>
              <a:ext uri="{FF2B5EF4-FFF2-40B4-BE49-F238E27FC236}">
                <a16:creationId xmlns:a16="http://schemas.microsoft.com/office/drawing/2014/main" id="{25009FFA-094A-7E9A-C623-37D1043AB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0971857" y="5575955"/>
            <a:ext cx="1282045" cy="1282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266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E60CDCC-275D-BBE9-556E-2644BC464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Bakgrunn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EF39640-397F-18BD-A91E-39242CD6A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60915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e 3">
            <a:extLst>
              <a:ext uri="{FF2B5EF4-FFF2-40B4-BE49-F238E27FC236}">
                <a16:creationId xmlns:a16="http://schemas.microsoft.com/office/drawing/2014/main" id="{9783971A-28A3-2903-0A3B-CD1941B09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85311" cy="6858000"/>
          </a:xfrm>
          <a:prstGeom prst="rect">
            <a:avLst/>
          </a:prstGeom>
        </p:spPr>
      </p:pic>
      <p:sp>
        <p:nvSpPr>
          <p:cNvPr id="2" name="Tittel 1">
            <a:extLst>
              <a:ext uri="{FF2B5EF4-FFF2-40B4-BE49-F238E27FC236}">
                <a16:creationId xmlns:a16="http://schemas.microsoft.com/office/drawing/2014/main" id="{B1E7FE31-8FF8-5C9A-27DA-E06EBEE2F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Trafikkmønster </a:t>
            </a:r>
            <a:br>
              <a:rPr lang="nb-NO" dirty="0"/>
            </a:br>
            <a:r>
              <a:rPr lang="nb-NO" dirty="0"/>
              <a:t>hele fylket</a:t>
            </a:r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38933FB5-73AD-A8E5-6941-1719A32E264F}"/>
              </a:ext>
            </a:extLst>
          </p:cNvPr>
          <p:cNvSpPr/>
          <p:nvPr/>
        </p:nvSpPr>
        <p:spPr>
          <a:xfrm>
            <a:off x="10685311" y="0"/>
            <a:ext cx="1506689" cy="6858000"/>
          </a:xfrm>
          <a:prstGeom prst="rect">
            <a:avLst/>
          </a:prstGeom>
          <a:solidFill>
            <a:srgbClr val="D9EA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5A41062F-276E-0AD7-44DF-CB40C1EE3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6990" y="2478024"/>
            <a:ext cx="3755010" cy="3694176"/>
          </a:xfrm>
        </p:spPr>
        <p:txBody>
          <a:bodyPr>
            <a:normAutofit/>
          </a:bodyPr>
          <a:lstStyle/>
          <a:p>
            <a:r>
              <a:rPr lang="nb-NO" sz="1800" dirty="0"/>
              <a:t>Bredden på pilene viser antall reiser</a:t>
            </a:r>
          </a:p>
          <a:p>
            <a:r>
              <a:rPr lang="nb-NO" sz="1800" dirty="0"/>
              <a:t>Lokaltrafikken dominerer sterkt</a:t>
            </a:r>
          </a:p>
          <a:p>
            <a:r>
              <a:rPr lang="nb-NO" sz="1800" dirty="0"/>
              <a:t>Relativt lite trafikk inn og ut av fylket</a:t>
            </a:r>
          </a:p>
          <a:p>
            <a:r>
              <a:rPr lang="nb-NO" sz="1800" dirty="0"/>
              <a:t>Alle reiser med start eller endepunkt i fylket er med</a:t>
            </a:r>
          </a:p>
          <a:p>
            <a:pPr lvl="1"/>
            <a:r>
              <a:rPr lang="nb-NO" sz="1400" dirty="0"/>
              <a:t>Gjennomreiser gjennom fylket </a:t>
            </a:r>
            <a:r>
              <a:rPr lang="nb-NO" sz="1400" i="1" dirty="0"/>
              <a:t>uten stopp </a:t>
            </a:r>
            <a:r>
              <a:rPr lang="nb-NO" sz="1400" dirty="0"/>
              <a:t>er ikke medregnet</a:t>
            </a:r>
          </a:p>
        </p:txBody>
      </p:sp>
      <p:sp>
        <p:nvSpPr>
          <p:cNvPr id="5" name="TekstSylinder 4">
            <a:extLst>
              <a:ext uri="{FF2B5EF4-FFF2-40B4-BE49-F238E27FC236}">
                <a16:creationId xmlns:a16="http://schemas.microsoft.com/office/drawing/2014/main" id="{4F5E8EC6-AD90-2584-0F6E-AE8EF89C71E6}"/>
              </a:ext>
            </a:extLst>
          </p:cNvPr>
          <p:cNvSpPr txBox="1"/>
          <p:nvPr/>
        </p:nvSpPr>
        <p:spPr>
          <a:xfrm>
            <a:off x="2639505" y="4822008"/>
            <a:ext cx="7136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100" dirty="0"/>
              <a:t>Ålesund</a:t>
            </a:r>
            <a:endParaRPr lang="nb-NO" sz="1400" dirty="0"/>
          </a:p>
        </p:txBody>
      </p:sp>
      <p:sp>
        <p:nvSpPr>
          <p:cNvPr id="7" name="TekstSylinder 6">
            <a:extLst>
              <a:ext uri="{FF2B5EF4-FFF2-40B4-BE49-F238E27FC236}">
                <a16:creationId xmlns:a16="http://schemas.microsoft.com/office/drawing/2014/main" id="{094DF30B-23FB-2920-FA80-2A40EE821F7F}"/>
              </a:ext>
            </a:extLst>
          </p:cNvPr>
          <p:cNvSpPr txBox="1"/>
          <p:nvPr/>
        </p:nvSpPr>
        <p:spPr>
          <a:xfrm>
            <a:off x="5238073" y="2740256"/>
            <a:ext cx="5902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100" dirty="0"/>
              <a:t>Molde</a:t>
            </a:r>
            <a:endParaRPr lang="nb-NO" sz="1400" dirty="0"/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1664D209-8E5A-E614-19EC-51152F325D5E}"/>
              </a:ext>
            </a:extLst>
          </p:cNvPr>
          <p:cNvSpPr txBox="1"/>
          <p:nvPr/>
        </p:nvSpPr>
        <p:spPr>
          <a:xfrm>
            <a:off x="5238073" y="3725330"/>
            <a:ext cx="7184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100" dirty="0"/>
              <a:t>Vestnes</a:t>
            </a:r>
            <a:endParaRPr lang="nb-NO" sz="1400" dirty="0"/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AE6379F7-0CF3-E77F-7B1A-AEA448928841}"/>
              </a:ext>
            </a:extLst>
          </p:cNvPr>
          <p:cNvSpPr txBox="1"/>
          <p:nvPr/>
        </p:nvSpPr>
        <p:spPr>
          <a:xfrm>
            <a:off x="8436990" y="945573"/>
            <a:ext cx="99418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100" dirty="0"/>
              <a:t>Kristiansund</a:t>
            </a:r>
            <a:endParaRPr lang="nb-NO" sz="1400" dirty="0"/>
          </a:p>
        </p:txBody>
      </p:sp>
    </p:spTree>
    <p:extLst>
      <p:ext uri="{BB962C8B-B14F-4D97-AF65-F5344CB8AC3E}">
        <p14:creationId xmlns:p14="http://schemas.microsoft.com/office/powerpoint/2010/main" val="1827726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519A00E1-7A8B-1830-D048-9F4F48FAAAD5}"/>
              </a:ext>
            </a:extLst>
          </p:cNvPr>
          <p:cNvSpPr/>
          <p:nvPr/>
        </p:nvSpPr>
        <p:spPr>
          <a:xfrm>
            <a:off x="9359363" y="0"/>
            <a:ext cx="2832637" cy="6858000"/>
          </a:xfrm>
          <a:prstGeom prst="rect">
            <a:avLst/>
          </a:prstGeom>
          <a:solidFill>
            <a:srgbClr val="D9EA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9" name="Bilde 8">
            <a:extLst>
              <a:ext uri="{FF2B5EF4-FFF2-40B4-BE49-F238E27FC236}">
                <a16:creationId xmlns:a16="http://schemas.microsoft.com/office/drawing/2014/main" id="{ACF5DCAA-C303-41EB-C4A7-7C449AF51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359363" cy="6858000"/>
          </a:xfrm>
          <a:prstGeom prst="rect">
            <a:avLst/>
          </a:prstGeom>
        </p:spPr>
      </p:pic>
      <p:sp>
        <p:nvSpPr>
          <p:cNvPr id="6" name="Tittel 1">
            <a:extLst>
              <a:ext uri="{FF2B5EF4-FFF2-40B4-BE49-F238E27FC236}">
                <a16:creationId xmlns:a16="http://schemas.microsoft.com/office/drawing/2014/main" id="{688D405B-4E63-A9B3-7A1A-9C7CC787F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nb-NO" dirty="0"/>
              <a:t>Trafikkmønster for biler med fergen</a:t>
            </a:r>
          </a:p>
        </p:txBody>
      </p:sp>
      <p:sp>
        <p:nvSpPr>
          <p:cNvPr id="8" name="Plassholder for innhold 2">
            <a:extLst>
              <a:ext uri="{FF2B5EF4-FFF2-40B4-BE49-F238E27FC236}">
                <a16:creationId xmlns:a16="http://schemas.microsoft.com/office/drawing/2014/main" id="{BB6A187E-9BA6-9283-0813-E46D6F838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5014" y="1562986"/>
            <a:ext cx="3886986" cy="2302003"/>
          </a:xfrm>
        </p:spPr>
        <p:txBody>
          <a:bodyPr>
            <a:normAutofit lnSpcReduction="10000"/>
          </a:bodyPr>
          <a:lstStyle/>
          <a:p>
            <a:r>
              <a:rPr lang="nb-NO" sz="1800" dirty="0"/>
              <a:t>Figuren viser dagens kjøremønster for bilreiser som bruker fergen</a:t>
            </a:r>
          </a:p>
          <a:p>
            <a:pPr lvl="1"/>
            <a:r>
              <a:rPr lang="nb-NO" sz="1600" dirty="0"/>
              <a:t>Trafikk til/fra Vestnes og Helland dominerer</a:t>
            </a:r>
          </a:p>
          <a:p>
            <a:pPr lvl="1"/>
            <a:r>
              <a:rPr lang="nb-NO" sz="1600" dirty="0"/>
              <a:t>Tabellen under viser fordelingen av reisene på begge sider av fergeleie</a:t>
            </a:r>
          </a:p>
        </p:txBody>
      </p:sp>
      <p:pic>
        <p:nvPicPr>
          <p:cNvPr id="13" name="Grafikk 12">
            <a:extLst>
              <a:ext uri="{FF2B5EF4-FFF2-40B4-BE49-F238E27FC236}">
                <a16:creationId xmlns:a16="http://schemas.microsoft.com/office/drawing/2014/main" id="{2B164002-58A0-17B5-F0BF-DE37443C32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61954" y="4115638"/>
            <a:ext cx="4330045" cy="2742362"/>
          </a:xfrm>
          <a:prstGeom prst="rect">
            <a:avLst/>
          </a:prstGeom>
        </p:spPr>
      </p:pic>
      <p:sp>
        <p:nvSpPr>
          <p:cNvPr id="2" name="TekstSylinder 1">
            <a:extLst>
              <a:ext uri="{FF2B5EF4-FFF2-40B4-BE49-F238E27FC236}">
                <a16:creationId xmlns:a16="http://schemas.microsoft.com/office/drawing/2014/main" id="{BE108F8E-EA08-3969-3DAF-A5A3247BB8FE}"/>
              </a:ext>
            </a:extLst>
          </p:cNvPr>
          <p:cNvSpPr txBox="1"/>
          <p:nvPr/>
        </p:nvSpPr>
        <p:spPr>
          <a:xfrm>
            <a:off x="4614450" y="3429000"/>
            <a:ext cx="5902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100" dirty="0"/>
              <a:t>Molde</a:t>
            </a:r>
            <a:endParaRPr lang="nb-NO" sz="1400" dirty="0"/>
          </a:p>
        </p:txBody>
      </p:sp>
      <p:sp>
        <p:nvSpPr>
          <p:cNvPr id="3" name="TekstSylinder 2">
            <a:extLst>
              <a:ext uri="{FF2B5EF4-FFF2-40B4-BE49-F238E27FC236}">
                <a16:creationId xmlns:a16="http://schemas.microsoft.com/office/drawing/2014/main" id="{076DEB59-2E0C-2182-202E-E59E5B5DCA16}"/>
              </a:ext>
            </a:extLst>
          </p:cNvPr>
          <p:cNvSpPr txBox="1"/>
          <p:nvPr/>
        </p:nvSpPr>
        <p:spPr>
          <a:xfrm>
            <a:off x="3702234" y="4868175"/>
            <a:ext cx="3850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100" dirty="0"/>
              <a:t>Vik</a:t>
            </a:r>
            <a:endParaRPr lang="nb-NO" sz="1400" dirty="0"/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6ACA9754-AB72-D134-3691-B3136B27BBC1}"/>
              </a:ext>
            </a:extLst>
          </p:cNvPr>
          <p:cNvSpPr txBox="1"/>
          <p:nvPr/>
        </p:nvSpPr>
        <p:spPr>
          <a:xfrm>
            <a:off x="4614450" y="4668119"/>
            <a:ext cx="7184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100" dirty="0"/>
              <a:t>Vestnes</a:t>
            </a:r>
            <a:endParaRPr lang="nb-NO" sz="1400" dirty="0"/>
          </a:p>
        </p:txBody>
      </p:sp>
      <p:sp>
        <p:nvSpPr>
          <p:cNvPr id="5" name="TekstSylinder 4">
            <a:extLst>
              <a:ext uri="{FF2B5EF4-FFF2-40B4-BE49-F238E27FC236}">
                <a16:creationId xmlns:a16="http://schemas.microsoft.com/office/drawing/2014/main" id="{710E2743-3E5E-8D46-0435-A67EECC8F0F2}"/>
              </a:ext>
            </a:extLst>
          </p:cNvPr>
          <p:cNvSpPr txBox="1"/>
          <p:nvPr/>
        </p:nvSpPr>
        <p:spPr>
          <a:xfrm>
            <a:off x="4808502" y="5179042"/>
            <a:ext cx="7569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100" dirty="0"/>
              <a:t>Vikebukt</a:t>
            </a:r>
            <a:endParaRPr lang="nb-NO" sz="1400" dirty="0"/>
          </a:p>
        </p:txBody>
      </p:sp>
      <p:sp>
        <p:nvSpPr>
          <p:cNvPr id="10" name="TekstSylinder 9">
            <a:extLst>
              <a:ext uri="{FF2B5EF4-FFF2-40B4-BE49-F238E27FC236}">
                <a16:creationId xmlns:a16="http://schemas.microsoft.com/office/drawing/2014/main" id="{DD3E5A22-8B09-5A99-9551-9773CDD34812}"/>
              </a:ext>
            </a:extLst>
          </p:cNvPr>
          <p:cNvSpPr txBox="1"/>
          <p:nvPr/>
        </p:nvSpPr>
        <p:spPr>
          <a:xfrm>
            <a:off x="4679681" y="4885354"/>
            <a:ext cx="6767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100" dirty="0"/>
              <a:t>Helland</a:t>
            </a:r>
            <a:endParaRPr lang="nb-NO" sz="1400" dirty="0"/>
          </a:p>
        </p:txBody>
      </p:sp>
      <p:sp>
        <p:nvSpPr>
          <p:cNvPr id="11" name="TekstSylinder 10">
            <a:extLst>
              <a:ext uri="{FF2B5EF4-FFF2-40B4-BE49-F238E27FC236}">
                <a16:creationId xmlns:a16="http://schemas.microsoft.com/office/drawing/2014/main" id="{D4A35D85-8785-E725-8029-0BE6057FFBD2}"/>
              </a:ext>
            </a:extLst>
          </p:cNvPr>
          <p:cNvSpPr txBox="1"/>
          <p:nvPr/>
        </p:nvSpPr>
        <p:spPr>
          <a:xfrm>
            <a:off x="737099" y="6415963"/>
            <a:ext cx="10086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100" dirty="0"/>
              <a:t>Mot Ålesund</a:t>
            </a:r>
            <a:endParaRPr lang="nb-NO" sz="1400" dirty="0"/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CE0FFACD-750E-A177-0E58-002813FD927C}"/>
              </a:ext>
            </a:extLst>
          </p:cNvPr>
          <p:cNvSpPr txBox="1"/>
          <p:nvPr/>
        </p:nvSpPr>
        <p:spPr>
          <a:xfrm>
            <a:off x="7435030" y="3429000"/>
            <a:ext cx="12891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100" dirty="0"/>
              <a:t>Mot Kristiansund</a:t>
            </a:r>
            <a:endParaRPr lang="nb-NO" sz="1400" dirty="0"/>
          </a:p>
        </p:txBody>
      </p:sp>
    </p:spTree>
    <p:extLst>
      <p:ext uri="{BB962C8B-B14F-4D97-AF65-F5344CB8AC3E}">
        <p14:creationId xmlns:p14="http://schemas.microsoft.com/office/powerpoint/2010/main" val="980818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50158-5394-A4A0-0DF9-66DB712B9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Bilde 12">
            <a:extLst>
              <a:ext uri="{FF2B5EF4-FFF2-40B4-BE49-F238E27FC236}">
                <a16:creationId xmlns:a16="http://schemas.microsoft.com/office/drawing/2014/main" id="{0C13BB96-DA05-8EB2-0E33-0A0CD5480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98693" y="9427"/>
            <a:ext cx="9955720" cy="6839146"/>
          </a:xfrm>
          <a:prstGeom prst="rect">
            <a:avLst/>
          </a:prstGeom>
        </p:spPr>
      </p:pic>
      <p:sp>
        <p:nvSpPr>
          <p:cNvPr id="7" name="Rektangel 6">
            <a:extLst>
              <a:ext uri="{FF2B5EF4-FFF2-40B4-BE49-F238E27FC236}">
                <a16:creationId xmlns:a16="http://schemas.microsoft.com/office/drawing/2014/main" id="{CB620F48-A149-8F73-B87E-EA3564C1F805}"/>
              </a:ext>
            </a:extLst>
          </p:cNvPr>
          <p:cNvSpPr/>
          <p:nvPr/>
        </p:nvSpPr>
        <p:spPr>
          <a:xfrm>
            <a:off x="9057027" y="0"/>
            <a:ext cx="3134974" cy="6858000"/>
          </a:xfrm>
          <a:prstGeom prst="rect">
            <a:avLst/>
          </a:prstGeom>
          <a:solidFill>
            <a:srgbClr val="D9EA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" name="Plassholder for innhold 2">
            <a:extLst>
              <a:ext uri="{FF2B5EF4-FFF2-40B4-BE49-F238E27FC236}">
                <a16:creationId xmlns:a16="http://schemas.microsoft.com/office/drawing/2014/main" id="{00F54175-ED44-CC5E-20A7-B2EA08339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9344" y="1904214"/>
            <a:ext cx="4122656" cy="4934932"/>
          </a:xfrm>
        </p:spPr>
        <p:txBody>
          <a:bodyPr>
            <a:normAutofit lnSpcReduction="10000"/>
          </a:bodyPr>
          <a:lstStyle/>
          <a:p>
            <a:r>
              <a:rPr lang="nb-NO" sz="1800" dirty="0"/>
              <a:t>Figuren viser trafikkmønster for Romsdalsaksen</a:t>
            </a:r>
          </a:p>
          <a:p>
            <a:r>
              <a:rPr lang="nb-NO" sz="1800" dirty="0"/>
              <a:t>Trafikken på fergen Molde-Vestnes er vist i sammenlignbar skala</a:t>
            </a:r>
            <a:endParaRPr lang="nb-NO" sz="1400" dirty="0"/>
          </a:p>
          <a:p>
            <a:pPr lvl="1"/>
            <a:r>
              <a:rPr lang="nb-NO" sz="1600" dirty="0"/>
              <a:t>Tilsvarer 1.819.000 reiser 2025</a:t>
            </a:r>
          </a:p>
          <a:p>
            <a:pPr lvl="1"/>
            <a:r>
              <a:rPr lang="nb-NO" sz="1600" dirty="0"/>
              <a:t>Vår modell beregner ikke nyskapt trafikk enda</a:t>
            </a:r>
          </a:p>
          <a:p>
            <a:r>
              <a:rPr lang="nb-NO" sz="1800" dirty="0"/>
              <a:t>Kartet viser at mye av trafikken skal tilbake fra Lønset vestover mot Molde sentrum</a:t>
            </a:r>
          </a:p>
          <a:p>
            <a:pPr lvl="1"/>
            <a:r>
              <a:rPr lang="nb-NO" sz="1600" dirty="0"/>
              <a:t>Områder øst for Molde fergekai vil derfor tjene mest på dette alternativet</a:t>
            </a:r>
          </a:p>
          <a:p>
            <a:r>
              <a:rPr lang="nb-NO" sz="1800" dirty="0"/>
              <a:t>Relativt lite trafikk videre mot Kristiansund</a:t>
            </a:r>
          </a:p>
          <a:p>
            <a:endParaRPr lang="nb-NO" sz="1800" dirty="0"/>
          </a:p>
          <a:p>
            <a:endParaRPr lang="nb-NO" sz="1400" dirty="0"/>
          </a:p>
        </p:txBody>
      </p:sp>
      <p:sp>
        <p:nvSpPr>
          <p:cNvPr id="6" name="Tittel 1">
            <a:extLst>
              <a:ext uri="{FF2B5EF4-FFF2-40B4-BE49-F238E27FC236}">
                <a16:creationId xmlns:a16="http://schemas.microsoft.com/office/drawing/2014/main" id="{AD2123EB-D4A4-169C-C3D1-6636C3EBA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141" y="548640"/>
            <a:ext cx="10168128" cy="1179576"/>
          </a:xfrm>
        </p:spPr>
        <p:txBody>
          <a:bodyPr>
            <a:normAutofit/>
          </a:bodyPr>
          <a:lstStyle/>
          <a:p>
            <a:r>
              <a:rPr lang="nb-NO" dirty="0"/>
              <a:t>Trafikkmønster med Romsdalsaksen</a:t>
            </a:r>
          </a:p>
        </p:txBody>
      </p:sp>
      <p:sp>
        <p:nvSpPr>
          <p:cNvPr id="2" name="TekstSylinder 1">
            <a:extLst>
              <a:ext uri="{FF2B5EF4-FFF2-40B4-BE49-F238E27FC236}">
                <a16:creationId xmlns:a16="http://schemas.microsoft.com/office/drawing/2014/main" id="{AAA99D7A-185E-CD90-2FDE-A6F282F7D61D}"/>
              </a:ext>
            </a:extLst>
          </p:cNvPr>
          <p:cNvSpPr txBox="1"/>
          <p:nvPr/>
        </p:nvSpPr>
        <p:spPr>
          <a:xfrm>
            <a:off x="2609228" y="1424418"/>
            <a:ext cx="5902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100" dirty="0"/>
              <a:t>Molde</a:t>
            </a:r>
            <a:endParaRPr lang="nb-NO" sz="1400" dirty="0"/>
          </a:p>
        </p:txBody>
      </p:sp>
      <p:sp>
        <p:nvSpPr>
          <p:cNvPr id="5" name="TekstSylinder 4">
            <a:extLst>
              <a:ext uri="{FF2B5EF4-FFF2-40B4-BE49-F238E27FC236}">
                <a16:creationId xmlns:a16="http://schemas.microsoft.com/office/drawing/2014/main" id="{3FB6EC1F-F206-7FDA-D3A5-599ABFB95944}"/>
              </a:ext>
            </a:extLst>
          </p:cNvPr>
          <p:cNvSpPr txBox="1"/>
          <p:nvPr/>
        </p:nvSpPr>
        <p:spPr>
          <a:xfrm>
            <a:off x="2904341" y="4031498"/>
            <a:ext cx="7184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100" dirty="0"/>
              <a:t>Vestnes</a:t>
            </a:r>
            <a:endParaRPr lang="nb-NO" sz="1400" dirty="0"/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DCB258EE-1571-D0BA-B3DE-E9327E453FDF}"/>
              </a:ext>
            </a:extLst>
          </p:cNvPr>
          <p:cNvSpPr txBox="1"/>
          <p:nvPr/>
        </p:nvSpPr>
        <p:spPr>
          <a:xfrm>
            <a:off x="6096000" y="1278432"/>
            <a:ext cx="6367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100" dirty="0"/>
              <a:t>Lønset</a:t>
            </a:r>
            <a:endParaRPr lang="nb-NO" sz="1400" dirty="0"/>
          </a:p>
        </p:txBody>
      </p:sp>
      <p:sp>
        <p:nvSpPr>
          <p:cNvPr id="10" name="TekstSylinder 9">
            <a:extLst>
              <a:ext uri="{FF2B5EF4-FFF2-40B4-BE49-F238E27FC236}">
                <a16:creationId xmlns:a16="http://schemas.microsoft.com/office/drawing/2014/main" id="{BD7CC445-1016-F44C-BDDE-0EEA62723852}"/>
              </a:ext>
            </a:extLst>
          </p:cNvPr>
          <p:cNvSpPr txBox="1"/>
          <p:nvPr/>
        </p:nvSpPr>
        <p:spPr>
          <a:xfrm>
            <a:off x="7031291" y="3429000"/>
            <a:ext cx="7040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100" dirty="0"/>
              <a:t>Sølsnes</a:t>
            </a:r>
            <a:endParaRPr lang="nb-NO" sz="1400" dirty="0"/>
          </a:p>
        </p:txBody>
      </p:sp>
      <p:sp>
        <p:nvSpPr>
          <p:cNvPr id="16" name="TekstSylinder 15">
            <a:extLst>
              <a:ext uri="{FF2B5EF4-FFF2-40B4-BE49-F238E27FC236}">
                <a16:creationId xmlns:a16="http://schemas.microsoft.com/office/drawing/2014/main" id="{27D1C283-0360-A8BE-1566-F6B1D77E7DD3}"/>
              </a:ext>
            </a:extLst>
          </p:cNvPr>
          <p:cNvSpPr txBox="1"/>
          <p:nvPr/>
        </p:nvSpPr>
        <p:spPr>
          <a:xfrm>
            <a:off x="7195640" y="4031498"/>
            <a:ext cx="6992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100" dirty="0"/>
              <a:t>Åfarnes</a:t>
            </a:r>
            <a:endParaRPr lang="nb-NO" sz="1400" dirty="0"/>
          </a:p>
        </p:txBody>
      </p:sp>
    </p:spTree>
    <p:extLst>
      <p:ext uri="{BB962C8B-B14F-4D97-AF65-F5344CB8AC3E}">
        <p14:creationId xmlns:p14="http://schemas.microsoft.com/office/powerpoint/2010/main" val="2469674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de 10">
            <a:extLst>
              <a:ext uri="{FF2B5EF4-FFF2-40B4-BE49-F238E27FC236}">
                <a16:creationId xmlns:a16="http://schemas.microsoft.com/office/drawing/2014/main" id="{2A24713E-A970-D820-89BA-8CB87E655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96" y="0"/>
            <a:ext cx="8801412" cy="6858000"/>
          </a:xfrm>
          <a:prstGeom prst="rect">
            <a:avLst/>
          </a:prstGeom>
        </p:spPr>
      </p:pic>
      <p:sp>
        <p:nvSpPr>
          <p:cNvPr id="4" name="Rektangel 3">
            <a:extLst>
              <a:ext uri="{FF2B5EF4-FFF2-40B4-BE49-F238E27FC236}">
                <a16:creationId xmlns:a16="http://schemas.microsoft.com/office/drawing/2014/main" id="{94EED2AF-7EC2-1BC7-7DB7-C9694FEAA1F7}"/>
              </a:ext>
            </a:extLst>
          </p:cNvPr>
          <p:cNvSpPr/>
          <p:nvPr/>
        </p:nvSpPr>
        <p:spPr>
          <a:xfrm>
            <a:off x="8791816" y="0"/>
            <a:ext cx="3400185" cy="6858000"/>
          </a:xfrm>
          <a:prstGeom prst="rect">
            <a:avLst/>
          </a:prstGeom>
          <a:solidFill>
            <a:srgbClr val="D9EA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3226AC36-439A-068B-F7B3-AE1C460EA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Møreaksen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280D95EB-D705-6D86-C3D8-489DDD951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59918" y="1435609"/>
            <a:ext cx="4079749" cy="4248754"/>
          </a:xfrm>
        </p:spPr>
        <p:txBody>
          <a:bodyPr>
            <a:normAutofit/>
          </a:bodyPr>
          <a:lstStyle/>
          <a:p>
            <a:r>
              <a:rPr lang="nb-NO" sz="1800" dirty="0"/>
              <a:t>Figuren viser trafikkmønster Møreaksen </a:t>
            </a:r>
          </a:p>
          <a:p>
            <a:pPr lvl="1"/>
            <a:r>
              <a:rPr lang="nb-NO" sz="1600" dirty="0"/>
              <a:t>Tilsvarer 1.819.000 reiser 2025</a:t>
            </a:r>
          </a:p>
          <a:p>
            <a:pPr lvl="1"/>
            <a:r>
              <a:rPr lang="nb-NO" sz="1600" dirty="0"/>
              <a:t>Vår modell beregner ikke nyskapt trafikk enda</a:t>
            </a:r>
            <a:endParaRPr lang="nb-NO" sz="1800" dirty="0"/>
          </a:p>
          <a:p>
            <a:r>
              <a:rPr lang="nb-NO" sz="2000" dirty="0"/>
              <a:t>Fergen er også illustrert for sammenligningens skyld</a:t>
            </a:r>
          </a:p>
          <a:p>
            <a:r>
              <a:rPr lang="nb-NO" sz="1800" dirty="0"/>
              <a:t>Ca. 22 minutter enn med dagens ferge</a:t>
            </a:r>
          </a:p>
          <a:p>
            <a:r>
              <a:rPr lang="nb-NO" sz="1800" dirty="0"/>
              <a:t>Forutsetter at tunell mellom Julholmen og Molde sentrum bygges</a:t>
            </a:r>
          </a:p>
        </p:txBody>
      </p:sp>
      <p:sp>
        <p:nvSpPr>
          <p:cNvPr id="5" name="TekstSylinder 4">
            <a:extLst>
              <a:ext uri="{FF2B5EF4-FFF2-40B4-BE49-F238E27FC236}">
                <a16:creationId xmlns:a16="http://schemas.microsoft.com/office/drawing/2014/main" id="{0542DA3D-C5AE-C1B2-9164-23CB7BF621DC}"/>
              </a:ext>
            </a:extLst>
          </p:cNvPr>
          <p:cNvSpPr txBox="1"/>
          <p:nvPr/>
        </p:nvSpPr>
        <p:spPr>
          <a:xfrm>
            <a:off x="4526043" y="1173999"/>
            <a:ext cx="5902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100" dirty="0"/>
              <a:t>Molde</a:t>
            </a:r>
            <a:endParaRPr lang="nb-NO" sz="1400" dirty="0"/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5CD0CCFA-2F21-B165-2D32-C927AE93EFC1}"/>
              </a:ext>
            </a:extLst>
          </p:cNvPr>
          <p:cNvSpPr txBox="1"/>
          <p:nvPr/>
        </p:nvSpPr>
        <p:spPr>
          <a:xfrm>
            <a:off x="3023114" y="3838649"/>
            <a:ext cx="7184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100" dirty="0"/>
              <a:t>Vestnes</a:t>
            </a:r>
            <a:endParaRPr lang="nb-NO" sz="1400" dirty="0"/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58F1C752-B408-58B9-01F0-3D3C184BB8C6}"/>
              </a:ext>
            </a:extLst>
          </p:cNvPr>
          <p:cNvSpPr txBox="1"/>
          <p:nvPr/>
        </p:nvSpPr>
        <p:spPr>
          <a:xfrm>
            <a:off x="1426421" y="3969454"/>
            <a:ext cx="3850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100" dirty="0"/>
              <a:t>Vik</a:t>
            </a:r>
            <a:endParaRPr lang="nb-NO" sz="1400" dirty="0"/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9EF9B7AC-BA00-BB91-5BBF-18AC4F04D38C}"/>
              </a:ext>
            </a:extLst>
          </p:cNvPr>
          <p:cNvSpPr txBox="1"/>
          <p:nvPr/>
        </p:nvSpPr>
        <p:spPr>
          <a:xfrm>
            <a:off x="2032971" y="1597411"/>
            <a:ext cx="8499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100" dirty="0"/>
              <a:t>Julholmen</a:t>
            </a:r>
            <a:endParaRPr lang="nb-NO" sz="1400" dirty="0"/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C0B27825-A709-E1E5-3D59-6F189F07E537}"/>
              </a:ext>
            </a:extLst>
          </p:cNvPr>
          <p:cNvSpPr txBox="1"/>
          <p:nvPr/>
        </p:nvSpPr>
        <p:spPr>
          <a:xfrm>
            <a:off x="7158882" y="3024963"/>
            <a:ext cx="7040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100" dirty="0"/>
              <a:t>Sølsnes</a:t>
            </a:r>
            <a:endParaRPr lang="nb-NO" sz="1400" dirty="0"/>
          </a:p>
        </p:txBody>
      </p:sp>
      <p:sp>
        <p:nvSpPr>
          <p:cNvPr id="14" name="TekstSylinder 13">
            <a:extLst>
              <a:ext uri="{FF2B5EF4-FFF2-40B4-BE49-F238E27FC236}">
                <a16:creationId xmlns:a16="http://schemas.microsoft.com/office/drawing/2014/main" id="{CAA0BE8E-6CB4-531C-EE58-A14A44FD4F53}"/>
              </a:ext>
            </a:extLst>
          </p:cNvPr>
          <p:cNvSpPr txBox="1"/>
          <p:nvPr/>
        </p:nvSpPr>
        <p:spPr>
          <a:xfrm>
            <a:off x="7257380" y="3592988"/>
            <a:ext cx="6992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100" dirty="0"/>
              <a:t>Åfarnes</a:t>
            </a:r>
            <a:endParaRPr lang="nb-NO" sz="1400" dirty="0"/>
          </a:p>
        </p:txBody>
      </p:sp>
    </p:spTree>
    <p:extLst>
      <p:ext uri="{BB962C8B-B14F-4D97-AF65-F5344CB8AC3E}">
        <p14:creationId xmlns:p14="http://schemas.microsoft.com/office/powerpoint/2010/main" val="1613659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22DEBDF-64A9-B666-EC24-4277F037C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Reisetider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327122C0-FE4C-DF90-5BBE-9EC864BB6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9" y="2478024"/>
            <a:ext cx="4700770" cy="3694176"/>
          </a:xfrm>
        </p:spPr>
        <p:txBody>
          <a:bodyPr>
            <a:normAutofit/>
          </a:bodyPr>
          <a:lstStyle/>
          <a:p>
            <a:r>
              <a:rPr lang="nb-NO" sz="1800" dirty="0"/>
              <a:t>Figuren viser endret reisetid i forhold til dagens ferge</a:t>
            </a:r>
          </a:p>
          <a:p>
            <a:pPr lvl="1"/>
            <a:r>
              <a:rPr lang="nb-NO" sz="1600" dirty="0"/>
              <a:t>Beregnet som gjennomsnitt for alle berørte reiser</a:t>
            </a:r>
          </a:p>
          <a:p>
            <a:r>
              <a:rPr lang="nb-NO" sz="1800" dirty="0"/>
              <a:t>Begge alternativene gir rundt 20 min tidsbesparelse</a:t>
            </a:r>
          </a:p>
          <a:p>
            <a:r>
              <a:rPr lang="nb-NO" sz="1800" dirty="0"/>
              <a:t>Møreaksen alt i alt 4 minutter raskere enn Romsdalsalternativer</a:t>
            </a:r>
          </a:p>
          <a:p>
            <a:endParaRPr lang="nb-NO" sz="1800" dirty="0"/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B3BD5646-4324-6C91-89F4-2F1AFB97A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0633" y="2409665"/>
            <a:ext cx="5859101" cy="389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613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68FC813-9522-F76F-2F36-31D37EB58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Konklusjon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F01DF1C5-67EF-8D17-BBF4-4452E0182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Det er lokaltrafikk som dominerer trafikken via dagens ferge</a:t>
            </a:r>
          </a:p>
          <a:p>
            <a:pPr lvl="1"/>
            <a:r>
              <a:rPr lang="nb-NO" dirty="0"/>
              <a:t>Lav andel reiser fra Kristiansund og Ålesund</a:t>
            </a:r>
          </a:p>
          <a:p>
            <a:r>
              <a:rPr lang="nb-NO" dirty="0"/>
              <a:t>Ingen av Møreaksen noen få minutter raskere mht. reisetid</a:t>
            </a:r>
          </a:p>
          <a:p>
            <a:r>
              <a:rPr lang="nb-NO" dirty="0"/>
              <a:t>Ser bare på et eventuelt første byggetrinn</a:t>
            </a:r>
          </a:p>
          <a:p>
            <a:pPr lvl="1"/>
            <a:r>
              <a:rPr lang="nb-NO" dirty="0"/>
              <a:t>Senere oppgraderinger mht. fart kan gi andre resultater</a:t>
            </a:r>
          </a:p>
          <a:p>
            <a:r>
              <a:rPr lang="nb-NO" dirty="0"/>
              <a:t>Et nytt alternativ via Sekken er beste mulighet for å gi kortere reiser</a:t>
            </a:r>
          </a:p>
        </p:txBody>
      </p:sp>
    </p:spTree>
    <p:extLst>
      <p:ext uri="{BB962C8B-B14F-4D97-AF65-F5344CB8AC3E}">
        <p14:creationId xmlns:p14="http://schemas.microsoft.com/office/powerpoint/2010/main" val="4201115476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Grøn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sjon3" id="{0AC7DE48-42EE-C946-83F2-EC18299539A3}" vid="{BD23308F-4B10-FC42-B15F-600974735D1E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AccentBoxVTI</Template>
  <TotalTime>11289</TotalTime>
  <Words>287</Words>
  <Application>Microsoft Macintosh PowerPoint</Application>
  <PresentationFormat>Widescreen</PresentationFormat>
  <Paragraphs>61</Paragraphs>
  <Slides>8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4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Neue Haas Grotesk Text Pro</vt:lpstr>
      <vt:lpstr>AccentBoxVTI</vt:lpstr>
      <vt:lpstr>Romsdalsaksen</vt:lpstr>
      <vt:lpstr>Bakgrunn</vt:lpstr>
      <vt:lpstr>Trafikkmønster  hele fylket</vt:lpstr>
      <vt:lpstr>Trafikkmønster for biler med fergen</vt:lpstr>
      <vt:lpstr>Trafikkmønster med Romsdalsaksen</vt:lpstr>
      <vt:lpstr>Møreaksen</vt:lpstr>
      <vt:lpstr>Reisetider</vt:lpstr>
      <vt:lpstr>Konklusjon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Arve Halseth</dc:creator>
  <cp:lastModifiedBy>Arve Halseth</cp:lastModifiedBy>
  <cp:revision>2</cp:revision>
  <dcterms:created xsi:type="dcterms:W3CDTF">2026-02-04T14:36:23Z</dcterms:created>
  <dcterms:modified xsi:type="dcterms:W3CDTF">2026-03-12T09:52:36Z</dcterms:modified>
</cp:coreProperties>
</file>